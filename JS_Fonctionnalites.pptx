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-914400"/>
            <a:ext cx="5486400" cy="5486400"/>
          </a:xfrm>
          <a:prstGeom prst="rect">
            <a:avLst/>
          </a:prstGeom>
          <a:solidFill>
            <a:srgbClr val="1A1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1463040"/>
            <a:ext cx="3931920" cy="384048"/>
          </a:xfrm>
          <a:prstGeom prst="rect">
            <a:avLst/>
          </a:prstGeom>
          <a:solidFill>
            <a:srgbClr val="1A163D"/>
          </a:solidFill>
          <a:ln w="15240">
            <a:solidFill>
              <a:srgbClr val="403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46304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18CF8"/>
                </a:solidFill>
                <a:latin typeface="Calibri"/>
              </a:rPr>
              <a:t>●  SAE S4 — DWM.01  |  BUT 2 Semestre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011680"/>
            <a:ext cx="9784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FFFFFF"/>
                </a:solidFill>
                <a:latin typeface="Calibri"/>
              </a:rPr>
              <a:t>MiniPress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38328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4A3B8"/>
                </a:solidFill>
                <a:latin typeface="Calibri"/>
              </a:rPr>
              <a:t>Fonctionnalités JavaScript / TypeScript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7200"/>
            <a:ext cx="6094476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4476" y="6807200"/>
            <a:ext cx="6094476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LANGAGE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TypeScript + Handlebars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Frontend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ANNÉE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2025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02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Au programme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5577840" cy="82296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013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18CF8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8745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Architecture modulaire TypeScript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691640"/>
            <a:ext cx="5577840" cy="82296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013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18CF8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8745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Chargement asynchrone des données (fetch / Promise)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5577840" cy="82296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07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18CF8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8803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Rendu dynamique avec Handlebars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2697480"/>
            <a:ext cx="5577840" cy="82296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807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18CF8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8803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Tri chronologique des articles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03320"/>
            <a:ext cx="5577840" cy="82296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813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18CF8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8862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Recherche par mot-clé en temps réel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3703320"/>
            <a:ext cx="5577840" cy="82296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813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18CF8"/>
                </a:solidFill>
                <a:latin typeface="Calibr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8862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Navigation par catégorie &amp; par auteur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09160"/>
            <a:ext cx="5577840" cy="82296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818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18CF8"/>
                </a:solidFill>
                <a:latin typeface="Calibri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8920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Vue article complet &amp; bouton Retour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4709160"/>
            <a:ext cx="5577840" cy="82296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818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18CF8"/>
                </a:solidFill>
                <a:latin typeface="Calibri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8920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Bilan &amp; points techniques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03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01 —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Modules TypeScript séparés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3566160" cy="1783080"/>
          </a:xfrm>
          <a:prstGeom prst="rect">
            <a:avLst/>
          </a:prstGeom>
          <a:solidFill>
            <a:srgbClr val="1E293B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874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DE047"/>
                </a:solidFill>
                <a:latin typeface="Calibri"/>
              </a:rPr>
              <a:t>main.ts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2860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Point d'entrée
Orchestre tout le flux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1737360"/>
            <a:ext cx="3566160" cy="1783080"/>
          </a:xfrm>
          <a:prstGeom prst="rect">
            <a:avLst/>
          </a:prstGeom>
          <a:solidFill>
            <a:srgbClr val="1E293B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874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DE047"/>
                </a:solidFill>
                <a:latin typeface="Calibri"/>
              </a:rPr>
              <a:t>articleloader.ts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860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Chargement articles
via fetch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4736" y="1737360"/>
            <a:ext cx="3566160" cy="1783080"/>
          </a:xfrm>
          <a:prstGeom prst="rect">
            <a:avLst/>
          </a:prstGeom>
          <a:solidFill>
            <a:srgbClr val="1E293B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874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DE047"/>
                </a:solidFill>
                <a:latin typeface="Calibri"/>
              </a:rPr>
              <a:t>categorieloader.ts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2860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Chargement catégories
via fetch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40"/>
            <a:ext cx="3566160" cy="1783080"/>
          </a:xfrm>
          <a:prstGeom prst="rect">
            <a:avLst/>
          </a:prstGeom>
          <a:solidFill>
            <a:srgbClr val="1E293B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DE047"/>
                </a:solidFill>
                <a:latin typeface="Calibri"/>
              </a:rPr>
              <a:t>articles.ts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2976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Tri &amp; filtrage
(pur, sans effet de bord)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3749040"/>
            <a:ext cx="3566160" cy="1783080"/>
          </a:xfrm>
          <a:prstGeom prst="rect">
            <a:avLst/>
          </a:prstGeom>
          <a:solidFill>
            <a:srgbClr val="1E293B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DE047"/>
                </a:solidFill>
                <a:latin typeface="Calibri"/>
              </a:rPr>
              <a:t>ui.ts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2976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Rendu DOM
Handlebars + events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74736" y="3749040"/>
            <a:ext cx="3566160" cy="1783080"/>
          </a:xfrm>
          <a:prstGeom prst="rect">
            <a:avLst/>
          </a:prstGeom>
          <a:solidFill>
            <a:srgbClr val="1E293B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DE047"/>
                </a:solidFill>
                <a:latin typeface="Calibri"/>
              </a:rPr>
              <a:t>types.ts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42976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Interfaces TypeScript
Article / Categorie / ArticleComplet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6B6D4"/>
                </a:solidFill>
                <a:latin typeface="Calibri"/>
              </a:rPr>
              <a:t>⚡ Compilation webpack → /js/index.js (servi par Nginx :30001)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04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02 — CHARGEMENT ASYNCHRONE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fetch API + Promises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303520" cy="91440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Appels HTTP vers l'API 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2677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Chaque module fait un fetch() vers le backend Slim 4 (port :30003).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80360"/>
            <a:ext cx="5303520" cy="91440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990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71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Gestion des erreurs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3192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Vérification de response.ok, throw si statut HTTP ≠ 2xx.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5303520" cy="91440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041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Chaînage de Promises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708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.then() pour enchaîner chargement et affichage sans callback hell.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83480"/>
            <a:ext cx="5303520" cy="91440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093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async / await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42239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Syntaxe moderne : loadArticles, loadArticleComplet, loadArticlesByCategorie, loadArticlesByAuteur.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737360"/>
            <a:ext cx="5669280" cy="4389120"/>
          </a:xfrm>
          <a:prstGeom prst="rect">
            <a:avLst/>
          </a:prstGeom>
          <a:solidFill>
            <a:srgbClr val="080D1A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901952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// articleloader.ts
export async function loadArticles()
    : Promise&lt;Article[]&gt; {
  const res = await fetch(
    `${API_URL}/articles`);
  if (!res.ok)
    throw new Error(`Erreur ${res.status}`);
  return res.json();
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05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03 — RENDU DYNAMIQUE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Templates Handlebars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11247120" cy="100584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013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E047"/>
                </a:solidFill>
                <a:latin typeface="Calibri"/>
              </a:rPr>
              <a:t>ArticleTemplate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8013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→ Liste d'articles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671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Boucle {{#each articles}} → titre cliquable (data-lien), date, auteur cliquable (data-id).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07208"/>
            <a:ext cx="11247120" cy="100584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91693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E047"/>
                </a:solidFill>
                <a:latin typeface="Calibri"/>
              </a:rPr>
              <a:t>ArticleCompletTemplate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91693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→ Article complet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8269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Affichage titre, auteur (cliquable), résumé (italique), contenu HTML complet + bouton Retour.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22776"/>
            <a:ext cx="11247120" cy="100584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0325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E047"/>
                </a:solidFill>
                <a:latin typeface="Calibri"/>
              </a:rPr>
              <a:t>AuteurTemplate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0325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→ Articles par auteur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39826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En-tête avec nom de l'auteur, liste de ses articles avec titres cliquables + bouton Retour.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38344"/>
            <a:ext cx="11247120" cy="100584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1480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E047"/>
                </a:solidFill>
                <a:latin typeface="Calibri"/>
              </a:rPr>
              <a:t>cate  (catégories)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5148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→ Liste des catégories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5138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Boucle {{#each categories}} → chips cliquables avec description optionnelle ({{#if description}}).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18CF8"/>
                </a:solidFill>
                <a:latin typeface="Calibri"/>
              </a:rPr>
              <a:t>⚡ Handlebars.compile() est appelé à chaque mise à jour — pas de rechargement de page (SPA-like).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06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04 &amp; 05 — TRI &amp; RECHERCHE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Tri chronologique &amp; Recherche en temps réel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5577840" cy="438912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📅  Tri chronologique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774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Menu déroulant &lt;select id="tri-date"&gt;
• Valeurs : "asc" (vieux → récent)
  ou "desc" (récent → vieux)
• Écoute l'événement change
• Appelle tri(tousArticles, ordre)
• Re-render via displayArticle()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31920"/>
            <a:ext cx="5120640" cy="2011680"/>
          </a:xfrm>
          <a:prstGeom prst="rect">
            <a:avLst/>
          </a:prstGeom>
          <a:solidFill>
            <a:srgbClr val="080D1A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096512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// articles.ts
export function tri(
  articles: Article[],
  ordre: 'asc'|'desc'
): Article[] {
  return [...articles].sort(
    (a, b) =&gt; ordre === 'asc'
      ? a.cree &lt; b.cree ? -1 : 1
      : a.cree &gt; b.cree ? -1 : 1
  );
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577840" cy="438912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87451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🔍  Recherche par mot-clé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3774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• Input &lt;input id="recherche" type="text"&gt;
• Écoute l'événement input (temps réel)
• Aucune requête réseau supplémentaire
• Filtre sur les articles déjà chargés
• Insensible à la casse (toLowerCase)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9088" y="3931920"/>
            <a:ext cx="5120640" cy="2011680"/>
          </a:xfrm>
          <a:prstGeom prst="rect">
            <a:avLst/>
          </a:prstGeom>
          <a:solidFill>
            <a:srgbClr val="080D1A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4096512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// articles.ts
export function filtre(
  articles: Article[],
  motCle: string
): Article[] {
  const mot = motCle
    .trim().toLowerCase();
  if (mot === '') return articles;
  return articles.filter(a =&gt;
    a.titre.toLowerCase()
      .includes(mot));
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07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06 — NAVIGATION AVANCÉE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Filtrage par catégorie &amp; par auteur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5532120" cy="201168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18CF8"/>
                </a:solidFill>
                <a:latin typeface="Calibri"/>
              </a:rPr>
              <a:t>🏷️  Clic sur une catégorie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DE047"/>
                </a:solidFill>
                <a:latin typeface="Calibri"/>
              </a:rPr>
              <a:t>loadArticlesByCategorie(id)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Requête GET /api/categories/{id}/articles
Ré-affiche les articles filtrés via displayArticle()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737360"/>
            <a:ext cx="5532120" cy="201168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7E8F9"/>
                </a:solidFill>
                <a:latin typeface="Calibri"/>
              </a:rPr>
              <a:t>👤  Clic sur un nom d'auteur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DE047"/>
                </a:solidFill>
                <a:latin typeface="Calibri"/>
              </a:rPr>
              <a:t>loadArticlesByAuteur(id)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5176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Requête GET /api/auteurs/{id}/articles
Affiche la page auteur via displayAuteur()
avec son nom et la liste de ses articles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5532120" cy="201168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6EFAC"/>
                </a:solidFill>
                <a:latin typeface="Calibri"/>
              </a:rPr>
              <a:t>🔗  Délégation d'événements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80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DE047"/>
                </a:solidFill>
                <a:latin typeface="Calibri"/>
              </a:rPr>
              <a:t>Event delegation sur #Article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Un seul listener par section détecte
le clic via closest('.auteurName')
ou closest('[data-lien]')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931920"/>
            <a:ext cx="5532120" cy="201168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069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DE047"/>
                </a:solidFill>
                <a:latin typeface="Calibri"/>
              </a:rPr>
              <a:t>↩️  Bouton Retour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480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DE047"/>
                </a:solidFill>
                <a:latin typeface="Calibri"/>
              </a:rPr>
              <a:t>closest('.retour') → displayArticle()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8463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Retour à la liste complète sans
nouvelle requête réseau
(tousArticles toujours en mémoire)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08 /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7200"/>
            <a:ext cx="6094476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4476" y="6807200"/>
            <a:ext cx="6094476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  <a:latin typeface="Calibri"/>
              </a:rPr>
              <a:t>Bilan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058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Un front-end TypeScript
complet &amp; modulaire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146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  <a:latin typeface="Calibri"/>
              </a:rPr>
              <a:t>8 fonctionnalités clés implémentées, organisées en 6 modules TypeScript indépendants.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291840"/>
            <a:ext cx="2743200" cy="457200"/>
          </a:xfrm>
          <a:prstGeom prst="rect">
            <a:avLst/>
          </a:prstGeom>
          <a:solidFill>
            <a:srgbClr val="4F46E5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18CF8"/>
                </a:solidFill>
                <a:latin typeface="Calibri"/>
              </a:rPr>
              <a:t>⚡ TypeScript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5848" y="3291840"/>
            <a:ext cx="2743200" cy="457200"/>
          </a:xfrm>
          <a:prstGeom prst="rect">
            <a:avLst/>
          </a:prstGeom>
          <a:solidFill>
            <a:srgbClr val="4F46E5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18CF8"/>
                </a:solidFill>
                <a:latin typeface="Calibri"/>
              </a:rPr>
              <a:t>📄 Handlebars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291840"/>
            <a:ext cx="2743200" cy="457200"/>
          </a:xfrm>
          <a:prstGeom prst="rect">
            <a:avLst/>
          </a:prstGeom>
          <a:solidFill>
            <a:srgbClr val="064055"/>
          </a:solidFill>
          <a:ln w="1524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7E8F9"/>
                </a:solidFill>
                <a:latin typeface="Calibri"/>
              </a:rPr>
              <a:t>🔍 Recherche temps réel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61704" y="3291840"/>
            <a:ext cx="2743200" cy="457200"/>
          </a:xfrm>
          <a:prstGeom prst="rect">
            <a:avLst/>
          </a:prstGeom>
          <a:solidFill>
            <a:srgbClr val="064055"/>
          </a:solidFill>
          <a:ln w="1524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1704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7E8F9"/>
                </a:solidFill>
                <a:latin typeface="Calibri"/>
              </a:rPr>
              <a:t>📅 Tri chronologique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80"/>
            <a:ext cx="2743200" cy="457200"/>
          </a:xfrm>
          <a:prstGeom prst="rect">
            <a:avLst/>
          </a:prstGeom>
          <a:solidFill>
            <a:srgbClr val="16401A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6EFAC"/>
                </a:solidFill>
                <a:latin typeface="Calibri"/>
              </a:rPr>
              <a:t>🏷️ Filtrage catégorie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55848" y="3840480"/>
            <a:ext cx="2743200" cy="457200"/>
          </a:xfrm>
          <a:prstGeom prst="rect">
            <a:avLst/>
          </a:prstGeom>
          <a:solidFill>
            <a:srgbClr val="16401A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55848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6EFAC"/>
                </a:solidFill>
                <a:latin typeface="Calibri"/>
              </a:rPr>
              <a:t>👤 Navigation auteur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8776" y="3840480"/>
            <a:ext cx="2743200" cy="457200"/>
          </a:xfrm>
          <a:prstGeom prst="rect">
            <a:avLst/>
          </a:prstGeom>
          <a:solidFill>
            <a:srgbClr val="403500"/>
          </a:solidFill>
          <a:ln w="1524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8776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DE047"/>
                </a:solidFill>
                <a:latin typeface="Calibri"/>
              </a:rPr>
              <a:t>📖 Article complet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61704" y="3840480"/>
            <a:ext cx="2743200" cy="457200"/>
          </a:xfrm>
          <a:prstGeom prst="rect">
            <a:avLst/>
          </a:prstGeom>
          <a:solidFill>
            <a:srgbClr val="403500"/>
          </a:solidFill>
          <a:ln w="1524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1704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DE047"/>
                </a:solidFill>
                <a:latin typeface="Calibri"/>
              </a:rPr>
              <a:t>↩️ Retour sans reload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94A3B8"/>
                </a:solidFill>
                <a:latin typeface="Calibri"/>
              </a:rPr>
              <a:t>Toutes les interactions se font sans rechargement de page • Architecture orientée modules • TypeScript compile vers ES2020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