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5486400" cy="5486400"/>
          </a:xfrm>
          <a:prstGeom prst="rect">
            <a:avLst/>
          </a:prstGeom>
          <a:solidFill>
            <a:srgbClr val="1A1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1371600"/>
            <a:ext cx="5212080" cy="402336"/>
          </a:xfrm>
          <a:prstGeom prst="rect">
            <a:avLst/>
          </a:prstGeom>
          <a:solidFill>
            <a:srgbClr val="0A142E"/>
          </a:solidFill>
          <a:ln w="15240">
            <a:solidFill>
              <a:srgbClr val="302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Calibri"/>
              </a:rPr>
              <a:t>  SAE S4 - DWM.01  |  BUT 2 Semestre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FFFF"/>
                </a:solidFill>
                <a:latin typeface="Calibri"/>
              </a:rPr>
              <a:t>MiniPress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Application mobile Flutter / Dart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LANGAGE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7731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7731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Flutter + Material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ANNEE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7731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Au programme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74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Architecture &amp; structure du projet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01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74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Modeles de donnees (Article / Categorie)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01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8745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ApiService - Requetes HTTP &amp; gestion erreurs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HomeScreen - Liste dynamique &amp; filtres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0040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Recherche, tri et filtre par auteur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0040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3832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Widget ArticleCard - affichage personnalise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818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8920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Widget CategorieChip - animation &amp; etat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0916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18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8920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ArticleDetailScreen - FutureBuilder &amp; detail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709160"/>
            <a:ext cx="3657600" cy="1325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8188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18CF8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8920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Bilan &amp; points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01 -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Structure du projet Flutter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main.dart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Point d'entree
Configure le theme Material 3
(Indigo + Cyan), Google Fonts Outfit,
lance HomeScreen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71907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models/article.dart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6771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Classe Article
Deux factories : fromListJson()
et fromDetailJson() - gestion
des types dynamiques de l'API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71907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models/categorie.dart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26771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Classe Categorie
Factory fromJson() avec
conversion securisee de l'id
(String ou int)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4" y="171907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82880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services/api_service.dart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26771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ApiService
4 methodes async : fetchArticles,
fetchArticleByLien, fetchCategories,
fetchArticlesByCategorie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5079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screens/home_screen.dart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9943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HomeScreen (StatefulWidget)
Gestion etat complet : chargement,
filtres, tri, recherche, navigation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405079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screens/article_detail_screen.dart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459943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ArticleDetailScreen
FutureBuilder + CachedNetworkImage
Navigation retour avec auteur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4496" y="405079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widgets/article_card.dart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59943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ArticleCard (StatelessWidget)
Carte avec InkWell, auteur cliquable,
formatage date fr_FR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98864" y="4050792"/>
            <a:ext cx="2743200" cy="2148840"/>
          </a:xfrm>
          <a:prstGeom prst="rect">
            <a:avLst/>
          </a:prstGeom>
          <a:solidFill>
            <a:srgbClr val="1E293B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6024" y="41605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widgets/categorie_chip.dart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4599432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CategorieChip (StatelessWidget)
AnimatedContainer 250ms
Degrade indigo-&gt;cyan si selectionne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02 - MODELES DE DONNEES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Classes Article &amp; Categorie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760720" cy="475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id?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860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int?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Identifiant (peut etre nul en liste)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titre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60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603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Titre de l'article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resume?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8346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8346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Chapeau (optionnel)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108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contenu?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108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1089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Corps complet (optionnel)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832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imageUrl?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383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383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URL de l'illustration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categorieId/Nom?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6576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int?/String?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6576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Categorie liee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319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auteurNom?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931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9319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Nom de l'auteur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062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cree?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206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2062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Date de creation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4805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lien?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4805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4805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Chemin API (/api/articles/X)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2 factories: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13892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fromListJson() - pour /api/articles (titre, auteur, cree, lien)
fromDetailJson() - pour /api/articles/{id} (tous les champs, auteur flexible String|Map)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691640"/>
            <a:ext cx="5486400" cy="201168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1828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Categorie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2860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22860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2860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Identifiant (converti securise)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56032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titre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25603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25603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Nom de la categorie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8346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description?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28346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Description (optionnelle)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840480"/>
            <a:ext cx="5486400" cy="2560320"/>
          </a:xfrm>
          <a:prstGeom prst="rect">
            <a:avLst/>
          </a:prstGeom>
          <a:solidFill>
            <a:srgbClr val="080D1A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977639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// Getter utilitaire
int? get idFromLien {
  if (lien == null) return null;
  final parts = lien!.split('/');
  return int.tryParse(parts.last);
  // ex: '/api/articles/5' -&gt; 5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03 - SERVICE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ApiService - Requetes &amp; gestion d'erreurs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10515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fetchArticles()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47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GET /api/articles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Renvoie List&lt;Article&gt;. Decode tableau JSON,
mappe chaque element via Article.fromListJson().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07792"/>
            <a:ext cx="11247120" cy="10515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Calibri"/>
              </a:rPr>
              <a:t>fetchArticleByLien(lien)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GET /api/articles/{id}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Supporte lien relatif OU absolu (startsWith http).
Article.fromDetailJson(). 404 -&gt; exception specifique.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78224"/>
            <a:ext cx="11247120" cy="10515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EFAC"/>
                </a:solidFill>
                <a:latin typeface="Calibri"/>
              </a:rPr>
              <a:t>fetchCategories()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87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GET /api/categories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537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Renvoie List&lt;Categorie&gt;.
Conversion securisee de l'id (int ou String).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48656"/>
            <a:ext cx="11247120" cy="105156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583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E047"/>
                </a:solidFill>
                <a:latin typeface="Calibri"/>
              </a:rPr>
              <a:t>fetchArticlesByCategorie(id)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3583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GET /api/categories/{id}/articles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2414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Decode { categorie, articles: [...] }.
Extrait la cle 'articles' avant de mapper.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  Timeout 30s sur chaque requete (.timeout)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  http.Client injectable (testabilite)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  baseUrl : 10.0.2.2:8081 (emulateur Android)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7E8F9"/>
                </a:solidFill>
                <a:latin typeface="Calibri"/>
              </a:rPr>
              <a:t>  Exception avec message precis selon code HTTP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04 - ECRAN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HomeScreen - StatefulWidget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486400" cy="4846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18CF8"/>
                </a:solidFill>
                <a:latin typeface="Calibri"/>
              </a:rPr>
              <a:t>Etat du widget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40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List&lt;Article&gt;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Articles charges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32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328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List&lt;Categorie&gt;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53288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Categories chargees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25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_selectedCategorieId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8254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int?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2549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Filtre categorie actif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1181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_selectedAuthorName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1181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String?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1810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Filtre auteur actif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10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_searchQuery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410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41071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Texte de recherche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_sortAscending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703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bool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Ordre de tri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995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_loadingArticles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995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bool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Indicateur chargement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88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DE047"/>
                </a:solidFill>
                <a:latin typeface="Calibri"/>
              </a:rPr>
              <a:t>_searchController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7E8F9"/>
                </a:solidFill>
                <a:latin typeface="Calibri"/>
              </a:rPr>
              <a:t>TextEditingController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28853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Controleur 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6360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Cycle de vie: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937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initState() -&gt; _loadAll() charge articles + categories
dispose() -&gt; libere _searchController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577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  <a:latin typeface="Calibri"/>
              </a:rPr>
              <a:t>Navigation vers detail: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704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Navigator.push&lt;String&gt;() -&gt; attend un nom d'auteur en retour
Si l'auteur est selectionne dans le detail -&gt; filtre applique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1691640"/>
            <a:ext cx="5715000" cy="4846320"/>
          </a:xfrm>
          <a:prstGeom prst="rect">
            <a:avLst/>
          </a:prstGeom>
          <a:solidFill>
            <a:srgbClr val="080D1A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1828800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6EFAC"/>
                </a:solidFill>
                <a:latin typeface="Calibri"/>
              </a:rPr>
              <a:t>// Getter calcule : filtre + tri local (sans requete reseau)
List&lt;Article&gt; get _filteredAndSortedArticles {
  List&lt;Article&gt; list = List.from(_articles);
  // 1. Filtre auteur
  if (_selectedAuthorName != null)
    list = list.where(
      (a) =&gt; a.auteurNom == _selectedAuthorName
    ).toList();
  // 2. Filtre mot-cle (titre + resume)
  if (_searchQuery.isNotEmpty) {
    final q = _searchQuery.toLowerCase();
    list = list.where((a) =&gt;
      a.titre.toLowerCase().contains(q) ||
      a.resume?.toLowerCase().contains(q) == true
    ).toList();
  }
  // 3. Tri par date
  list.sort((a, b) =&gt; _sortAscending
    ? dateA.compareTo(dateB)
    : dateB.compareTo(dateA));
  return list;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05 - FILTRES &amp; 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Recherche, tri chronologique &amp; filtre auteur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E8F9"/>
                </a:solidFill>
                <a:latin typeface="Calibri"/>
              </a:rPr>
              <a:t>Recherche par mot-cle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TextField avec TextEditingController
onChanged -&gt; setState(_searchQuery)
Filtre sur titre ET resume
Bouton X pour effacer (suffixIcon)
Insensible a la casse (.toLowerCase())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alibri"/>
              </a:rPr>
              <a:t>Tri chronologique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2199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Bouton TextButton.icon avec fleche (up/down)
onPressed -&gt; setState(_sortAscending = !_sortAscending)
Tri via DateTime.tryParse() sur le champ cree
Valeurs null gerees (rejetees en fin de liste)
Affichage 'Plus recents' / 'Plus anciens'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  <a:latin typeface="Calibri"/>
              </a:rPr>
              <a:t>Filtre par categorie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2199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Clic sur CategorieChip -&gt; _selectCategorie(id)
Declanche une nouvelle requete API
(fetchArticlesByCategorie)
Reset du filtre auteur a chaque changement
Chip 'Tous' remet id a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DE047"/>
                </a:solidFill>
                <a:latin typeface="Calibri"/>
              </a:rPr>
              <a:t>Filtre par auteur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9087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Clic sur nom dans ArticleCard -&gt; onAuthorTap()
Ou retour depuis ArticleDetailScreen
Affiche un Chip 'Auteur : X' effacable
(bouton X -&gt; _selectedAuthorName = null)
Filtre purement local (pas de requete API)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16052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297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B5FD"/>
                </a:solidFill>
                <a:latin typeface="Calibri"/>
              </a:rPr>
              <a:t>Combinaison des filtres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9087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Les 3 filtres se combinent dans le getter
_filteredAndSortedArticles :
1. Filtre auteur (local)
2. Filtre mot-cle (local)
3. Tri chronologique (local)
Badge 'X articles' mis a jour en temps reel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160520"/>
            <a:ext cx="3657600" cy="23317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297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ED7AA"/>
                </a:solidFill>
                <a:latin typeface="Calibri"/>
              </a:rPr>
              <a:t>Pull-to-refresh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90872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RefreshIndicator enveloppe la ListView
onRefresh -&gt; _loadAll()
Recharge articles ET categories
Sans perte des filtres actifs
Indicateur circulaire pendant le chargement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06 &amp; 07 - WIDGETS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ArticleCard &amp; CategorieChip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760720" cy="4846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ArticleCard (StatelessWidget)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Card + InkWell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78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Effet de ripple au clic, clipBehavior antiAlias, coins arrondis (16px)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53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Barre Indigo verticale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Container 4px de large, hauteur 52px, coins arrondis - accent visuel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21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Titre Outfit Bold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GoogleFonts.outfit fontSize:16, fontWeight:bold, slate-900, hauteur 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88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Date formatee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DateFormat('d MMM yyyy', 'fr_FR') - ex: '11 juin 2026' avec icone calendrier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56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Auteur cliquable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48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GestureDetector + onAuthorTap callback, badge slate-100 avec icone @, couleur indigo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Fleche droite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16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Icon arrow_forward_ios_rounded taille 14, aligne verticalement, slate-400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91640"/>
            <a:ext cx="5486400" cy="4846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CategorieChip (StatelessWidget)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AnimatedContainer 250ms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78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Transition fluide easeInOut entre l'etat selectionne et non-selectionne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53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Degrade indigo -&gt; cyan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246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LinearGradient [0xFF4F46E5, 0xFF06B6D4] quand isSelected == 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21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Ombre portee indigo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136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BoxShadow blurRadius:10, offset:(0,4), opacity:35% si selectionne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88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Fond slate-100 sinon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5811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Color(0xFFF1F5F9) + bordure slate-200 quand non selectionne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560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Texte Outfit adaptatif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48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w600 blanc si selectionne, w500 slate-600 sinon, fontSize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GestureDetector onTap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916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Callback VoidCallback onTap - informe le parent (HomeScreen)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09 / 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914400" y="-914400"/>
            <a:ext cx="4572000" cy="4572000"/>
          </a:xfrm>
          <a:prstGeom prst="rect">
            <a:avLst/>
          </a:prstGeom>
          <a:solidFill>
            <a:srgbClr val="120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Bilan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Application Flutter
complete &amp; soignee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8 fichiers Dart, architecture MVC, Material 3 avec palette indigo/cyan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solidFill>
            <a:srgbClr val="4F46E5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CF8"/>
                </a:solidFill>
                <a:latin typeface="Calibri"/>
              </a:rPr>
              <a:t>Flutter / Dart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3246120"/>
            <a:ext cx="2560320" cy="457200"/>
          </a:xfrm>
          <a:prstGeom prst="rect">
            <a:avLst/>
          </a:prstGeom>
          <a:solidFill>
            <a:srgbClr val="4F46E5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18CF8"/>
                </a:solidFill>
                <a:latin typeface="Calibri"/>
              </a:rPr>
              <a:t>Material Design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7296" y="3246120"/>
            <a:ext cx="2560320" cy="457200"/>
          </a:xfrm>
          <a:prstGeom prst="rect">
            <a:avLst/>
          </a:prstGeom>
          <a:solidFill>
            <a:srgbClr val="053550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7E8F9"/>
                </a:solidFill>
                <a:latin typeface="Calibri"/>
              </a:rPr>
              <a:t>HTTP + timeout 30s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3246120"/>
            <a:ext cx="2560320" cy="457200"/>
          </a:xfrm>
          <a:prstGeom prst="rect">
            <a:avLst/>
          </a:prstGeom>
          <a:solidFill>
            <a:srgbClr val="053550"/>
          </a:solidFill>
          <a:ln w="1524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67E8F9"/>
                </a:solidFill>
                <a:latin typeface="Calibri"/>
              </a:rPr>
              <a:t>FutureBuilder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37392" y="3246120"/>
            <a:ext cx="2560320" cy="457200"/>
          </a:xfrm>
          <a:prstGeom prst="rect">
            <a:avLst/>
          </a:prstGeom>
          <a:solidFill>
            <a:srgbClr val="123518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37392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6EFAC"/>
                </a:solidFill>
                <a:latin typeface="Calibri"/>
              </a:rPr>
              <a:t>Filtres locaux combinees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560320" cy="457200"/>
          </a:xfrm>
          <a:prstGeom prst="rect">
            <a:avLst/>
          </a:prstGeom>
          <a:solidFill>
            <a:srgbClr val="123518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6EFAC"/>
                </a:solidFill>
                <a:latin typeface="Calibri"/>
              </a:rPr>
              <a:t>AnimatedContainer 250ms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248" y="3840480"/>
            <a:ext cx="2560320" cy="457200"/>
          </a:xfrm>
          <a:prstGeom prst="rect">
            <a:avLst/>
          </a:prstGeom>
          <a:solidFill>
            <a:srgbClr val="382E00"/>
          </a:solidFill>
          <a:ln w="1524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DE047"/>
                </a:solidFill>
                <a:latin typeface="Calibri"/>
              </a:rPr>
              <a:t>CachedNetworkImage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97296" y="3840480"/>
            <a:ext cx="2560320" cy="457200"/>
          </a:xfrm>
          <a:prstGeom prst="rect">
            <a:avLst/>
          </a:prstGeom>
          <a:solidFill>
            <a:srgbClr val="382E00"/>
          </a:solidFill>
          <a:ln w="1524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DE047"/>
                </a:solidFill>
                <a:latin typeface="Calibri"/>
              </a:rPr>
              <a:t>Google Fonts Outfit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3840480"/>
            <a:ext cx="2560320" cy="457200"/>
          </a:xfrm>
          <a:prstGeom prst="rect">
            <a:avLst/>
          </a:prstGeom>
          <a:solidFill>
            <a:srgbClr val="2A1A40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3840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4B5FD"/>
                </a:solidFill>
                <a:latin typeface="Calibri"/>
              </a:rPr>
              <a:t>Navigation + retour auteur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Toutes les vues gerent : chargement (CircularProgressIndicator) • erreur (bouton Reessayer) • etat vide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74920"/>
            <a:ext cx="1124712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2D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937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Calibri"/>
              </a:rPr>
              <a:t>ArticleDetailScreen - Points 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41264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FutureBuilder&lt;Article&gt; : 3 etats (loading, error, data)  •  CachedNetworkImage hauteur 240px avec placeholder et fallback  •  Titre en Playfair Display (style editorial)  •  Badge categorie cyan  •  Avatar initiale auteur  •  Bordure gauche Indigo sur le resume  •  Clic auteur -&gt; Navigator.pop(auteurNom) -&gt; filtre dans HomeScreen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